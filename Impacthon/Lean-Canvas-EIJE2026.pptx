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2" r:id="rId3"/>
    <p:sldId id="258" r:id="rId4"/>
    <p:sldId id="267" r:id="rId5"/>
    <p:sldId id="26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76A0"/>
    <a:srgbClr val="156082"/>
    <a:srgbClr val="3B7D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87" autoAdjust="0"/>
    <p:restoredTop sz="93203" autoAdjust="0"/>
  </p:normalViewPr>
  <p:slideViewPr>
    <p:cSldViewPr snapToGrid="0">
      <p:cViewPr varScale="1">
        <p:scale>
          <a:sx n="95" d="100"/>
          <a:sy n="95" d="100"/>
        </p:scale>
        <p:origin x="32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5" Type="http://schemas.openxmlformats.org/officeDocument/2006/relationships/image" Target="../media/image1.png"/><Relationship Id="rId10" Type="http://schemas.openxmlformats.org/officeDocument/2006/relationships/image" Target="../media/image7.png"/><Relationship Id="rId4" Type="http://schemas.microsoft.com/office/2007/relationships/hdphoto" Target="../media/hdphoto1.wdp"/><Relationship Id="rId9" Type="http://schemas.microsoft.com/office/2007/relationships/hdphoto" Target="../media/hdphoto3.wdp"/><Relationship Id="rId14" Type="http://schemas.openxmlformats.org/officeDocument/2006/relationships/image" Target="../media/image11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13" Type="http://schemas.openxmlformats.org/officeDocument/2006/relationships/image" Target="../media/image23.jpeg"/><Relationship Id="rId18" Type="http://schemas.openxmlformats.org/officeDocument/2006/relationships/image" Target="../media/image28.jpe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12" Type="http://schemas.openxmlformats.org/officeDocument/2006/relationships/image" Target="../media/image22.jpeg"/><Relationship Id="rId17" Type="http://schemas.openxmlformats.org/officeDocument/2006/relationships/image" Target="../media/image27.jpeg"/><Relationship Id="rId2" Type="http://schemas.openxmlformats.org/officeDocument/2006/relationships/image" Target="../media/image12.jpeg"/><Relationship Id="rId16" Type="http://schemas.openxmlformats.org/officeDocument/2006/relationships/image" Target="../media/image26.jpeg"/><Relationship Id="rId20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jpeg"/><Relationship Id="rId11" Type="http://schemas.openxmlformats.org/officeDocument/2006/relationships/image" Target="../media/image21.jpeg"/><Relationship Id="rId5" Type="http://schemas.openxmlformats.org/officeDocument/2006/relationships/image" Target="../media/image15.jpeg"/><Relationship Id="rId15" Type="http://schemas.openxmlformats.org/officeDocument/2006/relationships/image" Target="../media/image25.jpeg"/><Relationship Id="rId10" Type="http://schemas.openxmlformats.org/officeDocument/2006/relationships/image" Target="../media/image20.jpeg"/><Relationship Id="rId19" Type="http://schemas.openxmlformats.org/officeDocument/2006/relationships/image" Target="../media/image29.jpeg"/><Relationship Id="rId4" Type="http://schemas.openxmlformats.org/officeDocument/2006/relationships/image" Target="../media/image14.jpeg"/><Relationship Id="rId9" Type="http://schemas.openxmlformats.org/officeDocument/2006/relationships/image" Target="../media/image19.jpeg"/><Relationship Id="rId14" Type="http://schemas.openxmlformats.org/officeDocument/2006/relationships/image" Target="../media/image24.jpe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dei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18037D46-0930-A8F9-7AEB-134BBC3B66F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TextBox 7">
            <a:extLst>
              <a:ext uri="{FF2B5EF4-FFF2-40B4-BE49-F238E27FC236}">
                <a16:creationId xmlns:a16="http://schemas.microsoft.com/office/drawing/2014/main" id="{E1AA7CFB-59C0-5949-687E-66DBA0C37F9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801960" y="912850"/>
            <a:ext cx="202311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900" i="1" dirty="0">
                <a:solidFill>
                  <a:schemeClr val="bg1"/>
                </a:solidFill>
                <a:latin typeface="Arial" charset="0"/>
                <a:cs typeface="Arial" charset="0"/>
              </a:rPr>
              <a:t>Project Name</a:t>
            </a:r>
          </a:p>
        </p:txBody>
      </p:sp>
      <p:sp>
        <p:nvSpPr>
          <p:cNvPr id="57" name="TextBox 8">
            <a:extLst>
              <a:ext uri="{FF2B5EF4-FFF2-40B4-BE49-F238E27FC236}">
                <a16:creationId xmlns:a16="http://schemas.microsoft.com/office/drawing/2014/main" id="{9A4E9301-E20F-F890-21CC-D521FE32245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801960" y="1898380"/>
            <a:ext cx="140335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900" i="1" dirty="0">
                <a:solidFill>
                  <a:schemeClr val="bg1"/>
                </a:solidFill>
                <a:latin typeface="Arial" charset="0"/>
                <a:cs typeface="Arial" charset="0"/>
              </a:rPr>
              <a:t>Team Members:</a:t>
            </a: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6C0CF4B0-FC03-D086-DFFA-23321A4D032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801960" y="2851252"/>
            <a:ext cx="140335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900" i="1" dirty="0">
                <a:solidFill>
                  <a:schemeClr val="bg1"/>
                </a:solidFill>
                <a:latin typeface="Arial" charset="0"/>
                <a:cs typeface="Arial" charset="0"/>
              </a:rPr>
              <a:t>Institute / University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89B7D564-5855-5C80-E094-EE35A711E1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801960" y="3804124"/>
            <a:ext cx="140335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900" i="1" dirty="0">
                <a:solidFill>
                  <a:schemeClr val="bg1"/>
                </a:solidFill>
                <a:latin typeface="Arial" charset="0"/>
                <a:cs typeface="Arial" charset="0"/>
              </a:rPr>
              <a:t>School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EAB7F37-488D-4847-C41A-87D8C1A6517C}"/>
              </a:ext>
            </a:extLst>
          </p:cNvPr>
          <p:cNvSpPr txBox="1">
            <a:spLocks/>
          </p:cNvSpPr>
          <p:nvPr userDrawn="1"/>
        </p:nvSpPr>
        <p:spPr>
          <a:xfrm>
            <a:off x="5068663" y="1218468"/>
            <a:ext cx="6536872" cy="4258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endParaRPr lang="en-GB" sz="1600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17DCD0DA-AA56-CB2B-CD94-45606E7647B8}"/>
              </a:ext>
            </a:extLst>
          </p:cNvPr>
          <p:cNvSpPr txBox="1">
            <a:spLocks/>
          </p:cNvSpPr>
          <p:nvPr userDrawn="1"/>
        </p:nvSpPr>
        <p:spPr>
          <a:xfrm>
            <a:off x="5068663" y="2241725"/>
            <a:ext cx="6536872" cy="4258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endParaRPr lang="en-GB" sz="1600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4DC93C5-117A-C38E-7022-E247AF51FF61}"/>
              </a:ext>
            </a:extLst>
          </p:cNvPr>
          <p:cNvSpPr txBox="1">
            <a:spLocks/>
          </p:cNvSpPr>
          <p:nvPr userDrawn="1"/>
        </p:nvSpPr>
        <p:spPr>
          <a:xfrm>
            <a:off x="5068663" y="3165715"/>
            <a:ext cx="6536872" cy="4258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endParaRPr lang="en-GB" sz="1600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543FE42C-F86B-0C01-92D9-8DB88EFF1960}"/>
              </a:ext>
            </a:extLst>
          </p:cNvPr>
          <p:cNvSpPr txBox="1">
            <a:spLocks/>
          </p:cNvSpPr>
          <p:nvPr userDrawn="1"/>
        </p:nvSpPr>
        <p:spPr>
          <a:xfrm>
            <a:off x="5068663" y="4089705"/>
            <a:ext cx="6536872" cy="4258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endParaRPr lang="en-GB" sz="1600" dirty="0"/>
          </a:p>
        </p:txBody>
      </p:sp>
      <p:pic>
        <p:nvPicPr>
          <p:cNvPr id="12" name="Imagen 11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7A944B40-2192-66D7-ED47-841D998679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18" y="978790"/>
            <a:ext cx="4285725" cy="332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447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ção Pro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18037D46-0930-A8F9-7AEB-134BBC3B66F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TextBox 7">
            <a:extLst>
              <a:ext uri="{FF2B5EF4-FFF2-40B4-BE49-F238E27FC236}">
                <a16:creationId xmlns:a16="http://schemas.microsoft.com/office/drawing/2014/main" id="{E1AA7CFB-59C0-5949-687E-66DBA0C37F9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52054" y="278671"/>
            <a:ext cx="202311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900" i="1" dirty="0">
                <a:solidFill>
                  <a:schemeClr val="bg1"/>
                </a:solidFill>
                <a:latin typeface="Arial" charset="0"/>
                <a:cs typeface="Arial" charset="0"/>
              </a:rPr>
              <a:t>Designed for:</a:t>
            </a:r>
          </a:p>
        </p:txBody>
      </p:sp>
      <p:sp>
        <p:nvSpPr>
          <p:cNvPr id="57" name="TextBox 8">
            <a:extLst>
              <a:ext uri="{FF2B5EF4-FFF2-40B4-BE49-F238E27FC236}">
                <a16:creationId xmlns:a16="http://schemas.microsoft.com/office/drawing/2014/main" id="{9A4E9301-E20F-F890-21CC-D521FE32245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63816" y="278671"/>
            <a:ext cx="140335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900" i="1" dirty="0">
                <a:solidFill>
                  <a:schemeClr val="bg1"/>
                </a:solidFill>
                <a:latin typeface="Arial" charset="0"/>
                <a:cs typeface="Arial" charset="0"/>
              </a:rPr>
              <a:t>Designed by:</a:t>
            </a:r>
          </a:p>
        </p:txBody>
      </p:sp>
      <p:pic>
        <p:nvPicPr>
          <p:cNvPr id="5" name="Imagen 4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30E51724-748F-ED86-968D-3CBD1380CB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5" y="62236"/>
            <a:ext cx="1914383" cy="148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056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n Canvas Mo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18037D46-0930-A8F9-7AEB-134BBC3B66F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30">
            <a:extLst>
              <a:ext uri="{FF2B5EF4-FFF2-40B4-BE49-F238E27FC236}">
                <a16:creationId xmlns:a16="http://schemas.microsoft.com/office/drawing/2014/main" id="{BF39A1E5-F2D5-AB1A-D941-9767A7BB7FB5}"/>
              </a:ext>
            </a:extLst>
          </p:cNvPr>
          <p:cNvSpPr/>
          <p:nvPr userDrawn="1"/>
        </p:nvSpPr>
        <p:spPr>
          <a:xfrm>
            <a:off x="9498077" y="947087"/>
            <a:ext cx="2251964" cy="3810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8" name="Rectangle 23">
            <a:extLst>
              <a:ext uri="{FF2B5EF4-FFF2-40B4-BE49-F238E27FC236}">
                <a16:creationId xmlns:a16="http://schemas.microsoft.com/office/drawing/2014/main" id="{59C692A0-3790-2608-A631-E4C6E53A1D78}"/>
              </a:ext>
            </a:extLst>
          </p:cNvPr>
          <p:cNvSpPr/>
          <p:nvPr userDrawn="1"/>
        </p:nvSpPr>
        <p:spPr>
          <a:xfrm>
            <a:off x="485900" y="957973"/>
            <a:ext cx="11261721" cy="5638800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FED23340-481A-47BB-3F77-9552B8531B0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88308" y="950791"/>
            <a:ext cx="223200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400" b="1" dirty="0">
                <a:latin typeface="Arial" charset="0"/>
                <a:cs typeface="Arial" charset="0"/>
              </a:rPr>
              <a:t>Problem</a:t>
            </a: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AB63F181-FB6A-065C-9A5C-2E828E61DC7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88308" y="2834625"/>
            <a:ext cx="223200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400" b="1" dirty="0">
                <a:latin typeface="Arial" charset="0"/>
                <a:cs typeface="Arial" charset="0"/>
              </a:rPr>
              <a:t>Existing Alternatives</a:t>
            </a: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E71D8C5D-A996-DFCC-2DD7-C28F5D120C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99181" y="4757087"/>
            <a:ext cx="561600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400" b="1">
                <a:latin typeface="Arial" charset="0"/>
                <a:cs typeface="Arial" charset="0"/>
              </a:rPr>
              <a:t>Cost Structure</a:t>
            </a:r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30BE3635-CBC7-53B6-6D89-855703E739B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738374" y="950791"/>
            <a:ext cx="223200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400" b="1" dirty="0">
                <a:latin typeface="Arial" charset="0"/>
                <a:cs typeface="Arial" charset="0"/>
              </a:rPr>
              <a:t>Solution</a:t>
            </a:r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C4002ACF-1970-0D70-A95D-574AE1FB4B8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738372" y="2834625"/>
            <a:ext cx="223200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400" b="1">
                <a:latin typeface="Arial" charset="0"/>
                <a:cs typeface="Arial" charset="0"/>
              </a:rPr>
              <a:t>Key Metrics</a:t>
            </a:r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1BE73561-F511-6E37-3F62-7D584AD234C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15041" y="950791"/>
            <a:ext cx="223200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400" b="1">
                <a:latin typeface="Arial" charset="0"/>
                <a:cs typeface="Arial" charset="0"/>
              </a:rPr>
              <a:t>Unique Value Prop.</a:t>
            </a:r>
          </a:p>
        </p:txBody>
      </p:sp>
      <p:sp>
        <p:nvSpPr>
          <p:cNvPr id="15" name="TextBox 17">
            <a:extLst>
              <a:ext uri="{FF2B5EF4-FFF2-40B4-BE49-F238E27FC236}">
                <a16:creationId xmlns:a16="http://schemas.microsoft.com/office/drawing/2014/main" id="{74083635-35B4-A9D1-EE0A-59B35C3E2B9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15041" y="2834625"/>
            <a:ext cx="223200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400" b="1">
                <a:latin typeface="Arial" charset="0"/>
                <a:cs typeface="Arial" charset="0"/>
              </a:rPr>
              <a:t>High-Level Concept</a:t>
            </a:r>
          </a:p>
        </p:txBody>
      </p:sp>
      <p:sp>
        <p:nvSpPr>
          <p:cNvPr id="16" name="TextBox 18">
            <a:extLst>
              <a:ext uri="{FF2B5EF4-FFF2-40B4-BE49-F238E27FC236}">
                <a16:creationId xmlns:a16="http://schemas.microsoft.com/office/drawing/2014/main" id="{766FCC2E-050F-9CE5-C71F-397837BD33C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282209" y="950791"/>
            <a:ext cx="2195999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400" b="1" dirty="0">
                <a:latin typeface="Arial" charset="0"/>
                <a:cs typeface="Arial" charset="0"/>
              </a:rPr>
              <a:t>Unfair Advantage</a:t>
            </a:r>
          </a:p>
        </p:txBody>
      </p:sp>
      <p:sp>
        <p:nvSpPr>
          <p:cNvPr id="17" name="TextBox 19">
            <a:extLst>
              <a:ext uri="{FF2B5EF4-FFF2-40B4-BE49-F238E27FC236}">
                <a16:creationId xmlns:a16="http://schemas.microsoft.com/office/drawing/2014/main" id="{C53C6FF3-6707-D59B-8285-5E171430ED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265275" y="2828275"/>
            <a:ext cx="223200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400" b="1">
                <a:latin typeface="Arial" charset="0"/>
                <a:cs typeface="Arial" charset="0"/>
              </a:rPr>
              <a:t>Channels</a:t>
            </a:r>
          </a:p>
        </p:txBody>
      </p:sp>
      <p:sp>
        <p:nvSpPr>
          <p:cNvPr id="18" name="TextBox 20">
            <a:extLst>
              <a:ext uri="{FF2B5EF4-FFF2-40B4-BE49-F238E27FC236}">
                <a16:creationId xmlns:a16="http://schemas.microsoft.com/office/drawing/2014/main" id="{0A02DC8E-65EE-10EF-4FC9-1DEE7B05B88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512742" y="950791"/>
            <a:ext cx="223200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400" b="1">
                <a:latin typeface="Arial" charset="0"/>
                <a:cs typeface="Arial" charset="0"/>
              </a:rPr>
              <a:t>Customer Segments</a:t>
            </a: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0CD4B7F6-4A1B-C9E9-5314-3FE99E6E951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521209" y="2834625"/>
            <a:ext cx="223200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400" b="1">
                <a:latin typeface="Arial" charset="0"/>
                <a:cs typeface="Arial" charset="0"/>
              </a:rPr>
              <a:t>Early Adopters</a:t>
            </a:r>
          </a:p>
        </p:txBody>
      </p:sp>
      <p:sp>
        <p:nvSpPr>
          <p:cNvPr id="20" name="TextBox 22">
            <a:extLst>
              <a:ext uri="{FF2B5EF4-FFF2-40B4-BE49-F238E27FC236}">
                <a16:creationId xmlns:a16="http://schemas.microsoft.com/office/drawing/2014/main" id="{383DE378-C1E9-5B15-AAE3-8433A043294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149563" y="4757087"/>
            <a:ext cx="558000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400" b="1">
                <a:latin typeface="Arial" charset="0"/>
                <a:cs typeface="Arial" charset="0"/>
              </a:rPr>
              <a:t>Revenue Streams</a:t>
            </a:r>
          </a:p>
        </p:txBody>
      </p:sp>
      <p:sp>
        <p:nvSpPr>
          <p:cNvPr id="21" name="Rectangle 24">
            <a:extLst>
              <a:ext uri="{FF2B5EF4-FFF2-40B4-BE49-F238E27FC236}">
                <a16:creationId xmlns:a16="http://schemas.microsoft.com/office/drawing/2014/main" id="{D404E880-0572-ADA5-6C08-AF6A5A1F578B}"/>
              </a:ext>
            </a:extLst>
          </p:cNvPr>
          <p:cNvSpPr/>
          <p:nvPr userDrawn="1"/>
        </p:nvSpPr>
        <p:spPr>
          <a:xfrm>
            <a:off x="488319" y="947087"/>
            <a:ext cx="2250064" cy="3810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22" name="Rectangle 25">
            <a:extLst>
              <a:ext uri="{FF2B5EF4-FFF2-40B4-BE49-F238E27FC236}">
                <a16:creationId xmlns:a16="http://schemas.microsoft.com/office/drawing/2014/main" id="{4A7204CF-E253-1F7C-DFE8-7257320C6651}"/>
              </a:ext>
            </a:extLst>
          </p:cNvPr>
          <p:cNvSpPr/>
          <p:nvPr userDrawn="1"/>
        </p:nvSpPr>
        <p:spPr>
          <a:xfrm>
            <a:off x="2738383" y="945500"/>
            <a:ext cx="2251965" cy="188277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23" name="Rectangle 26">
            <a:extLst>
              <a:ext uri="{FF2B5EF4-FFF2-40B4-BE49-F238E27FC236}">
                <a16:creationId xmlns:a16="http://schemas.microsoft.com/office/drawing/2014/main" id="{580590C1-59A3-93E0-D6FA-9B213B5FBE7F}"/>
              </a:ext>
            </a:extLst>
          </p:cNvPr>
          <p:cNvSpPr/>
          <p:nvPr userDrawn="1"/>
        </p:nvSpPr>
        <p:spPr>
          <a:xfrm>
            <a:off x="2738383" y="2828275"/>
            <a:ext cx="2251965" cy="192881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F34664CD-0DE4-4CFB-8A06-F7EACD16A1AB}"/>
              </a:ext>
            </a:extLst>
          </p:cNvPr>
          <p:cNvSpPr/>
          <p:nvPr userDrawn="1"/>
        </p:nvSpPr>
        <p:spPr>
          <a:xfrm>
            <a:off x="4990348" y="947087"/>
            <a:ext cx="2250064" cy="3810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D4281A0F-9157-1857-4C1E-28270EA462AC}"/>
              </a:ext>
            </a:extLst>
          </p:cNvPr>
          <p:cNvSpPr/>
          <p:nvPr userDrawn="1"/>
        </p:nvSpPr>
        <p:spPr>
          <a:xfrm>
            <a:off x="7240411" y="936201"/>
            <a:ext cx="2250064" cy="188277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13D5E82C-49BC-55BD-FD78-07068A8ED03E}"/>
              </a:ext>
            </a:extLst>
          </p:cNvPr>
          <p:cNvSpPr/>
          <p:nvPr userDrawn="1"/>
        </p:nvSpPr>
        <p:spPr>
          <a:xfrm>
            <a:off x="7240411" y="2828275"/>
            <a:ext cx="2250064" cy="192881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27" name="Rectangle 31">
            <a:extLst>
              <a:ext uri="{FF2B5EF4-FFF2-40B4-BE49-F238E27FC236}">
                <a16:creationId xmlns:a16="http://schemas.microsoft.com/office/drawing/2014/main" id="{68473F5B-9E56-AD1E-9362-9CF02F450258}"/>
              </a:ext>
            </a:extLst>
          </p:cNvPr>
          <p:cNvSpPr/>
          <p:nvPr userDrawn="1"/>
        </p:nvSpPr>
        <p:spPr>
          <a:xfrm>
            <a:off x="488319" y="4765025"/>
            <a:ext cx="5642264" cy="182086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28" name="Rectangle 32">
            <a:extLst>
              <a:ext uri="{FF2B5EF4-FFF2-40B4-BE49-F238E27FC236}">
                <a16:creationId xmlns:a16="http://schemas.microsoft.com/office/drawing/2014/main" id="{3E1E70FD-AE73-FE8C-3B0C-621717739009}"/>
              </a:ext>
            </a:extLst>
          </p:cNvPr>
          <p:cNvSpPr/>
          <p:nvPr userDrawn="1"/>
        </p:nvSpPr>
        <p:spPr>
          <a:xfrm>
            <a:off x="6130583" y="4765025"/>
            <a:ext cx="5617558" cy="182086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pic>
        <p:nvPicPr>
          <p:cNvPr id="29" name="Picture 38" descr="cost-structure.png">
            <a:extLst>
              <a:ext uri="{FF2B5EF4-FFF2-40B4-BE49-F238E27FC236}">
                <a16:creationId xmlns:a16="http://schemas.microsoft.com/office/drawing/2014/main" id="{14B44834-B467-1DE0-B853-DA20937EAA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08696" y="4757087"/>
            <a:ext cx="345871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40" descr="early-adopters.png">
            <a:extLst>
              <a:ext uri="{FF2B5EF4-FFF2-40B4-BE49-F238E27FC236}">
                <a16:creationId xmlns:a16="http://schemas.microsoft.com/office/drawing/2014/main" id="{65115255-DCF8-9BA2-D06F-EB1715ED193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274942" y="2842562"/>
            <a:ext cx="345871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41" descr="existing-alternatives.png">
            <a:extLst>
              <a:ext uri="{FF2B5EF4-FFF2-40B4-BE49-F238E27FC236}">
                <a16:creationId xmlns:a16="http://schemas.microsoft.com/office/drawing/2014/main" id="{793B7399-9A8D-4ACA-6295-8128E21C646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70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93691" y="2810812"/>
            <a:ext cx="343971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42" descr="high-level-concept.png">
            <a:extLst>
              <a:ext uri="{FF2B5EF4-FFF2-40B4-BE49-F238E27FC236}">
                <a16:creationId xmlns:a16="http://schemas.microsoft.com/office/drawing/2014/main" id="{541BA57E-09D2-A6EC-2F7C-0533D1E934D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18524" y="2810812"/>
            <a:ext cx="345871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Picture 44" descr="key-metrics.png">
            <a:extLst>
              <a:ext uri="{FF2B5EF4-FFF2-40B4-BE49-F238E27FC236}">
                <a16:creationId xmlns:a16="http://schemas.microsoft.com/office/drawing/2014/main" id="{1F775241-C917-4554-E9ED-79729EC6313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47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68461" y="2810812"/>
            <a:ext cx="345871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Box 6">
            <a:extLst>
              <a:ext uri="{FF2B5EF4-FFF2-40B4-BE49-F238E27FC236}">
                <a16:creationId xmlns:a16="http://schemas.microsoft.com/office/drawing/2014/main" id="{8A1EB5B6-5BEC-D492-4277-455350EA92B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201734" y="207209"/>
            <a:ext cx="158649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GB" sz="1600" b="1" dirty="0">
                <a:solidFill>
                  <a:schemeClr val="bg1"/>
                </a:solidFill>
                <a:latin typeface="Arial" charset="0"/>
                <a:cs typeface="Arial" charset="0"/>
              </a:rPr>
              <a:t>The Lean </a:t>
            </a:r>
          </a:p>
          <a:p>
            <a:pPr algn="ctr">
              <a:defRPr/>
            </a:pPr>
            <a:r>
              <a:rPr lang="en-GB" sz="1600" b="1" dirty="0">
                <a:solidFill>
                  <a:schemeClr val="bg1"/>
                </a:solidFill>
                <a:latin typeface="Arial" charset="0"/>
                <a:cs typeface="Arial" charset="0"/>
              </a:rPr>
              <a:t>Canvas Model</a:t>
            </a:r>
          </a:p>
        </p:txBody>
      </p:sp>
      <p:pic>
        <p:nvPicPr>
          <p:cNvPr id="49" name="Imagem 48" descr="Uma imagem com captura de ecrã, círculo, Azul elétrico, azul&#10;&#10;Os conteúdos gerados por IA poderão estar incorretos.">
            <a:extLst>
              <a:ext uri="{FF2B5EF4-FFF2-40B4-BE49-F238E27FC236}">
                <a16:creationId xmlns:a16="http://schemas.microsoft.com/office/drawing/2014/main" id="{E5C7B451-4903-F378-BA41-4CDBEDFC668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605" t="54535" r="26166" b="23454"/>
          <a:stretch/>
        </p:blipFill>
        <p:spPr>
          <a:xfrm>
            <a:off x="11326150" y="891699"/>
            <a:ext cx="522192" cy="424543"/>
          </a:xfrm>
          <a:prstGeom prst="rect">
            <a:avLst/>
          </a:prstGeom>
        </p:spPr>
      </p:pic>
      <p:pic>
        <p:nvPicPr>
          <p:cNvPr id="50" name="Imagem 49" descr="Uma imagem com captura de ecrã, círculo, Azul elétrico, azul&#10;&#10;Os conteúdos gerados por IA poderão estar incorretos.">
            <a:extLst>
              <a:ext uri="{FF2B5EF4-FFF2-40B4-BE49-F238E27FC236}">
                <a16:creationId xmlns:a16="http://schemas.microsoft.com/office/drawing/2014/main" id="{58DD915F-F4CA-D200-62C3-3919435DCA64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5957" t="28676" r="12932" b="46247"/>
          <a:stretch/>
        </p:blipFill>
        <p:spPr>
          <a:xfrm>
            <a:off x="9043015" y="888233"/>
            <a:ext cx="381000" cy="483675"/>
          </a:xfrm>
          <a:prstGeom prst="rect">
            <a:avLst/>
          </a:prstGeom>
        </p:spPr>
      </p:pic>
      <p:pic>
        <p:nvPicPr>
          <p:cNvPr id="51" name="Imagem 50" descr="Uma imagem com captura de ecrã, círculo, Azul elétrico, azul&#10;&#10;Os conteúdos gerados por IA poderão estar incorretos.">
            <a:extLst>
              <a:ext uri="{FF2B5EF4-FFF2-40B4-BE49-F238E27FC236}">
                <a16:creationId xmlns:a16="http://schemas.microsoft.com/office/drawing/2014/main" id="{32710752-0C13-99F7-F87C-2B094E39CE39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1042" t="27856" r="24370" b="50973"/>
          <a:stretch/>
        </p:blipFill>
        <p:spPr>
          <a:xfrm>
            <a:off x="9080561" y="2755684"/>
            <a:ext cx="500202" cy="408329"/>
          </a:xfrm>
          <a:prstGeom prst="rect">
            <a:avLst/>
          </a:prstGeom>
        </p:spPr>
      </p:pic>
      <p:pic>
        <p:nvPicPr>
          <p:cNvPr id="52" name="Imagem 51" descr="Uma imagem com captura de ecrã, círculo, Azul elétrico, azul&#10;&#10;Os conteúdos gerados por IA poderão estar incorretos.">
            <a:extLst>
              <a:ext uri="{FF2B5EF4-FFF2-40B4-BE49-F238E27FC236}">
                <a16:creationId xmlns:a16="http://schemas.microsoft.com/office/drawing/2014/main" id="{5CC5DE1B-6694-836F-4563-1F677B0F1F45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4961" t="27856" r="43272" b="48613"/>
          <a:stretch/>
        </p:blipFill>
        <p:spPr>
          <a:xfrm>
            <a:off x="6800888" y="877041"/>
            <a:ext cx="403489" cy="453861"/>
          </a:xfrm>
          <a:prstGeom prst="rect">
            <a:avLst/>
          </a:prstGeom>
        </p:spPr>
      </p:pic>
      <p:pic>
        <p:nvPicPr>
          <p:cNvPr id="53" name="Imagem 52" descr="Uma imagem com captura de ecrã, círculo, Azul elétrico, azul&#10;&#10;Os conteúdos gerados por IA poderão estar incorretos.">
            <a:extLst>
              <a:ext uri="{FF2B5EF4-FFF2-40B4-BE49-F238E27FC236}">
                <a16:creationId xmlns:a16="http://schemas.microsoft.com/office/drawing/2014/main" id="{D1766A77-A82E-1EBE-C890-AA29AF2C8E4D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684" t="27844" r="59512" b="47713"/>
          <a:stretch/>
        </p:blipFill>
        <p:spPr>
          <a:xfrm>
            <a:off x="4581223" y="903952"/>
            <a:ext cx="439042" cy="471443"/>
          </a:xfrm>
          <a:prstGeom prst="rect">
            <a:avLst/>
          </a:prstGeom>
        </p:spPr>
      </p:pic>
      <p:pic>
        <p:nvPicPr>
          <p:cNvPr id="54" name="Imagem 53" descr="Uma imagem com captura de ecrã, círculo, Azul elétrico, azul&#10;&#10;Os conteúdos gerados por IA poderão estar incorretos.">
            <a:extLst>
              <a:ext uri="{FF2B5EF4-FFF2-40B4-BE49-F238E27FC236}">
                <a16:creationId xmlns:a16="http://schemas.microsoft.com/office/drawing/2014/main" id="{52783439-978A-2B12-37A0-7E3A8B21CFC7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553" t="27856" r="74486" b="45813"/>
          <a:stretch/>
        </p:blipFill>
        <p:spPr>
          <a:xfrm>
            <a:off x="2290142" y="897393"/>
            <a:ext cx="444431" cy="507864"/>
          </a:xfrm>
          <a:prstGeom prst="rect">
            <a:avLst/>
          </a:prstGeom>
        </p:spPr>
      </p:pic>
      <p:pic>
        <p:nvPicPr>
          <p:cNvPr id="55" name="Imagem 54" descr="Uma imagem com captura de ecrã, círculo, Azul elétrico, azul&#10;&#10;Os conteúdos gerados por IA poderão estar incorretos.">
            <a:extLst>
              <a:ext uri="{FF2B5EF4-FFF2-40B4-BE49-F238E27FC236}">
                <a16:creationId xmlns:a16="http://schemas.microsoft.com/office/drawing/2014/main" id="{895A122C-6748-9244-1C17-D18E4A72D216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2365" t="55151" r="44035" b="23895"/>
          <a:stretch/>
        </p:blipFill>
        <p:spPr>
          <a:xfrm>
            <a:off x="11235946" y="4782292"/>
            <a:ext cx="466322" cy="404162"/>
          </a:xfrm>
          <a:prstGeom prst="rect">
            <a:avLst/>
          </a:prstGeom>
        </p:spPr>
      </p:pic>
      <p:sp>
        <p:nvSpPr>
          <p:cNvPr id="56" name="TextBox 7">
            <a:extLst>
              <a:ext uri="{FF2B5EF4-FFF2-40B4-BE49-F238E27FC236}">
                <a16:creationId xmlns:a16="http://schemas.microsoft.com/office/drawing/2014/main" id="{E1AA7CFB-59C0-5949-687E-66DBA0C37F9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060370" y="183420"/>
            <a:ext cx="202311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900" i="1" dirty="0">
                <a:solidFill>
                  <a:schemeClr val="bg1"/>
                </a:solidFill>
                <a:latin typeface="Arial" charset="0"/>
                <a:cs typeface="Arial" charset="0"/>
              </a:rPr>
              <a:t>Designed for:</a:t>
            </a:r>
          </a:p>
        </p:txBody>
      </p:sp>
      <p:sp>
        <p:nvSpPr>
          <p:cNvPr id="57" name="TextBox 8">
            <a:extLst>
              <a:ext uri="{FF2B5EF4-FFF2-40B4-BE49-F238E27FC236}">
                <a16:creationId xmlns:a16="http://schemas.microsoft.com/office/drawing/2014/main" id="{9A4E9301-E20F-F890-21CC-D521FE32245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538736" y="183420"/>
            <a:ext cx="140335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900" i="1" dirty="0">
                <a:solidFill>
                  <a:schemeClr val="bg1"/>
                </a:solidFill>
                <a:latin typeface="Arial" charset="0"/>
                <a:cs typeface="Arial" charset="0"/>
              </a:rPr>
              <a:t>Designed by:</a:t>
            </a:r>
          </a:p>
        </p:txBody>
      </p:sp>
      <p:pic>
        <p:nvPicPr>
          <p:cNvPr id="5" name="Imagen 4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54459E27-2A88-5E52-A38D-AB40AF9041C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650" y="27849"/>
            <a:ext cx="1032658" cy="80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347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18037D46-0930-A8F9-7AEB-134BBC3B66F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Parallelogram 5">
            <a:extLst>
              <a:ext uri="{FF2B5EF4-FFF2-40B4-BE49-F238E27FC236}">
                <a16:creationId xmlns:a16="http://schemas.microsoft.com/office/drawing/2014/main" id="{339B5F67-C87A-E081-4B39-BABECE04F8CA}"/>
              </a:ext>
            </a:extLst>
          </p:cNvPr>
          <p:cNvSpPr/>
          <p:nvPr userDrawn="1"/>
        </p:nvSpPr>
        <p:spPr>
          <a:xfrm rot="5400000" flipH="1">
            <a:off x="4820139" y="2490657"/>
            <a:ext cx="5393802" cy="288005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FFC000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FC632AA-5665-07C4-0DBD-FEC8AECC8889}"/>
              </a:ext>
            </a:extLst>
          </p:cNvPr>
          <p:cNvSpPr txBox="1"/>
          <p:nvPr userDrawn="1"/>
        </p:nvSpPr>
        <p:spPr>
          <a:xfrm>
            <a:off x="770177" y="1185148"/>
            <a:ext cx="1085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0" dirty="0">
                <a:solidFill>
                  <a:schemeClr val="bg1"/>
                </a:solidFill>
              </a:rPr>
              <a:t>2025</a:t>
            </a:r>
            <a:endParaRPr lang="en-US" sz="1400" b="0" dirty="0">
              <a:solidFill>
                <a:schemeClr val="bg1"/>
              </a:solidFill>
            </a:endParaRPr>
          </a:p>
        </p:txBody>
      </p:sp>
      <p:sp>
        <p:nvSpPr>
          <p:cNvPr id="3" name="Parallelogram 5">
            <a:extLst>
              <a:ext uri="{FF2B5EF4-FFF2-40B4-BE49-F238E27FC236}">
                <a16:creationId xmlns:a16="http://schemas.microsoft.com/office/drawing/2014/main" id="{67B1BD0D-42A9-310A-2387-48D2A0051F01}"/>
              </a:ext>
            </a:extLst>
          </p:cNvPr>
          <p:cNvSpPr/>
          <p:nvPr userDrawn="1"/>
        </p:nvSpPr>
        <p:spPr>
          <a:xfrm rot="16200000" flipV="1">
            <a:off x="7700412" y="2490658"/>
            <a:ext cx="5393802" cy="288005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00B0F0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1600"/>
          </a:p>
        </p:txBody>
      </p:sp>
      <p:sp>
        <p:nvSpPr>
          <p:cNvPr id="5" name="Parallelogram 5">
            <a:extLst>
              <a:ext uri="{FF2B5EF4-FFF2-40B4-BE49-F238E27FC236}">
                <a16:creationId xmlns:a16="http://schemas.microsoft.com/office/drawing/2014/main" id="{16069723-5971-2316-1046-406D9776AB0F}"/>
              </a:ext>
            </a:extLst>
          </p:cNvPr>
          <p:cNvSpPr/>
          <p:nvPr userDrawn="1"/>
        </p:nvSpPr>
        <p:spPr>
          <a:xfrm rot="16200000" flipV="1">
            <a:off x="1976726" y="2490656"/>
            <a:ext cx="5393802" cy="288005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3B7D23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160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7864F590-ADD5-3991-CB66-372E42B01B72}"/>
              </a:ext>
            </a:extLst>
          </p:cNvPr>
          <p:cNvSpPr txBox="1">
            <a:spLocks/>
          </p:cNvSpPr>
          <p:nvPr userDrawn="1"/>
        </p:nvSpPr>
        <p:spPr>
          <a:xfrm>
            <a:off x="3711097" y="1448572"/>
            <a:ext cx="2304000" cy="6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r>
              <a:rPr lang="pt-PT" sz="1200" b="1" dirty="0"/>
              <a:t>Sustentabilidade Social </a:t>
            </a:r>
          </a:p>
          <a:p>
            <a:pPr algn="ctr">
              <a:spcBef>
                <a:spcPts val="0"/>
              </a:spcBef>
            </a:pPr>
            <a:r>
              <a:rPr lang="pt-PT" sz="1200" dirty="0"/>
              <a:t>– Criar Impacto para um Mundo mais Inclusivo </a:t>
            </a:r>
          </a:p>
        </p:txBody>
      </p:sp>
      <p:pic>
        <p:nvPicPr>
          <p:cNvPr id="9" name="Imagem 8" descr="Uma imagem com texto, Tipo de letra, Gráficos, design&#10;&#10;Os conteúdos gerados por IA poderão estar incorretos.">
            <a:extLst>
              <a:ext uri="{FF2B5EF4-FFF2-40B4-BE49-F238E27FC236}">
                <a16:creationId xmlns:a16="http://schemas.microsoft.com/office/drawing/2014/main" id="{A605F07E-76C9-32E9-D5DE-2289E9C423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2756" y="2286041"/>
            <a:ext cx="720000" cy="720000"/>
          </a:xfrm>
          <a:prstGeom prst="rect">
            <a:avLst/>
          </a:prstGeom>
        </p:spPr>
      </p:pic>
      <p:pic>
        <p:nvPicPr>
          <p:cNvPr id="10" name="Imagem 9" descr="Uma imagem com texto, design, Tipo de letra, logótipo&#10;&#10;Os conteúdos gerados por IA poderão estar incorretos.">
            <a:extLst>
              <a:ext uri="{FF2B5EF4-FFF2-40B4-BE49-F238E27FC236}">
                <a16:creationId xmlns:a16="http://schemas.microsoft.com/office/drawing/2014/main" id="{6BF8B40B-ACDC-2F2A-5E62-63434F93F3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2756" y="3131092"/>
            <a:ext cx="720000" cy="720000"/>
          </a:xfrm>
          <a:prstGeom prst="rect">
            <a:avLst/>
          </a:prstGeom>
        </p:spPr>
      </p:pic>
      <p:pic>
        <p:nvPicPr>
          <p:cNvPr id="11" name="Imagem 10" descr="Uma imagem com texto, Tipo de letra, verde, Gráficos&#10;&#10;Os conteúdos gerados por IA poderão estar incorretos.">
            <a:extLst>
              <a:ext uri="{FF2B5EF4-FFF2-40B4-BE49-F238E27FC236}">
                <a16:creationId xmlns:a16="http://schemas.microsoft.com/office/drawing/2014/main" id="{CA8C8DD0-3E48-9A07-E0A8-5AFC6220621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2755" y="3976143"/>
            <a:ext cx="720000" cy="720000"/>
          </a:xfrm>
          <a:prstGeom prst="rect">
            <a:avLst/>
          </a:prstGeom>
        </p:spPr>
      </p:pic>
      <p:pic>
        <p:nvPicPr>
          <p:cNvPr id="12" name="Imagem 11" descr="Uma imagem com texto, design, encarnado, logótipo&#10;&#10;Os conteúdos gerados por IA poderão estar incorretos.">
            <a:extLst>
              <a:ext uri="{FF2B5EF4-FFF2-40B4-BE49-F238E27FC236}">
                <a16:creationId xmlns:a16="http://schemas.microsoft.com/office/drawing/2014/main" id="{A2BECAC9-F01D-6171-2CA8-57E7459443D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2756" y="4821193"/>
            <a:ext cx="720000" cy="720000"/>
          </a:xfrm>
          <a:prstGeom prst="rect">
            <a:avLst/>
          </a:prstGeom>
        </p:spPr>
      </p:pic>
      <p:pic>
        <p:nvPicPr>
          <p:cNvPr id="13" name="Imagem 12" descr="Uma imagem com texto, Tipo de letra, logótipo, Gráficos&#10;&#10;Os conteúdos gerados por IA poderão estar incorretos.">
            <a:extLst>
              <a:ext uri="{FF2B5EF4-FFF2-40B4-BE49-F238E27FC236}">
                <a16:creationId xmlns:a16="http://schemas.microsoft.com/office/drawing/2014/main" id="{D10E9C9F-4DBF-91A9-26AC-94C98F7C322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2755" y="5666243"/>
            <a:ext cx="720000" cy="720000"/>
          </a:xfrm>
          <a:prstGeom prst="rect">
            <a:avLst/>
          </a:prstGeom>
        </p:spPr>
      </p:pic>
      <p:pic>
        <p:nvPicPr>
          <p:cNvPr id="24" name="Imagem 23" descr="Uma imagem com texto, Tipo de letra, logótipo, amarelo&#10;&#10;Os conteúdos gerados por IA poderão estar incorretos.">
            <a:extLst>
              <a:ext uri="{FF2B5EF4-FFF2-40B4-BE49-F238E27FC236}">
                <a16:creationId xmlns:a16="http://schemas.microsoft.com/office/drawing/2014/main" id="{BC02339B-885D-9C7B-18AF-4A3078FC298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65533" y="2286041"/>
            <a:ext cx="720000" cy="720000"/>
          </a:xfrm>
          <a:prstGeom prst="rect">
            <a:avLst/>
          </a:prstGeom>
        </p:spPr>
      </p:pic>
      <p:pic>
        <p:nvPicPr>
          <p:cNvPr id="25" name="Imagem 24" descr="Uma imagem com texto, Tipo de letra, logótipo, Gráficos&#10;&#10;Os conteúdos gerados por IA poderão estar incorretos.">
            <a:extLst>
              <a:ext uri="{FF2B5EF4-FFF2-40B4-BE49-F238E27FC236}">
                <a16:creationId xmlns:a16="http://schemas.microsoft.com/office/drawing/2014/main" id="{F0F23E22-2DD3-814F-146C-0143398A24BA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65533" y="3131091"/>
            <a:ext cx="720000" cy="720000"/>
          </a:xfrm>
          <a:prstGeom prst="rect">
            <a:avLst/>
          </a:prstGeom>
        </p:spPr>
      </p:pic>
      <p:pic>
        <p:nvPicPr>
          <p:cNvPr id="26" name="Imagem 25" descr="Uma imagem com design, texto&#10;&#10;Os conteúdos gerados por IA poderão estar incorretos.">
            <a:extLst>
              <a:ext uri="{FF2B5EF4-FFF2-40B4-BE49-F238E27FC236}">
                <a16:creationId xmlns:a16="http://schemas.microsoft.com/office/drawing/2014/main" id="{1CF6B707-111A-0BCD-2A0B-1CF4C8D35C70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65532" y="3976141"/>
            <a:ext cx="720000" cy="720000"/>
          </a:xfrm>
          <a:prstGeom prst="rect">
            <a:avLst/>
          </a:prstGeom>
        </p:spPr>
      </p:pic>
      <p:pic>
        <p:nvPicPr>
          <p:cNvPr id="27" name="Imagem 26" descr="Uma imagem com texto, Gráficos, Tipo de letra, logótipo&#10;&#10;Os conteúdos gerados por IA poderão estar incorretos.">
            <a:extLst>
              <a:ext uri="{FF2B5EF4-FFF2-40B4-BE49-F238E27FC236}">
                <a16:creationId xmlns:a16="http://schemas.microsoft.com/office/drawing/2014/main" id="{0BD2C8DD-C1B0-6057-0BD4-E3123FABC27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65533" y="4821191"/>
            <a:ext cx="720000" cy="720000"/>
          </a:xfrm>
          <a:prstGeom prst="rect">
            <a:avLst/>
          </a:prstGeom>
        </p:spPr>
      </p:pic>
      <p:pic>
        <p:nvPicPr>
          <p:cNvPr id="28" name="Imagem 27" descr="Uma imagem com texto, Tipo de letra, design, captura de ecrã&#10;&#10;Os conteúdos gerados por IA poderão estar incorretos.">
            <a:extLst>
              <a:ext uri="{FF2B5EF4-FFF2-40B4-BE49-F238E27FC236}">
                <a16:creationId xmlns:a16="http://schemas.microsoft.com/office/drawing/2014/main" id="{641BA78D-ABF0-D16C-B0E0-F9F63623A2C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65532" y="5666243"/>
            <a:ext cx="720000" cy="720000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8A191240-5ADE-5904-26BB-F503FF2521DF}"/>
              </a:ext>
            </a:extLst>
          </p:cNvPr>
          <p:cNvSpPr txBox="1">
            <a:spLocks/>
          </p:cNvSpPr>
          <p:nvPr userDrawn="1"/>
        </p:nvSpPr>
        <p:spPr>
          <a:xfrm>
            <a:off x="6555782" y="1448573"/>
            <a:ext cx="2304000" cy="6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r>
              <a:rPr lang="pt-PT" sz="1200" b="1" dirty="0"/>
              <a:t>Sustentabilidade Económica </a:t>
            </a:r>
          </a:p>
          <a:p>
            <a:pPr algn="ctr">
              <a:spcBef>
                <a:spcPts val="0"/>
              </a:spcBef>
            </a:pPr>
            <a:r>
              <a:rPr lang="pt-PT" sz="1200" dirty="0"/>
              <a:t>– Prosperidade com Propósito</a:t>
            </a:r>
          </a:p>
        </p:txBody>
      </p:sp>
      <p:pic>
        <p:nvPicPr>
          <p:cNvPr id="60" name="Imagem 59" descr="Uma imagem com texto, logótipo, Tipo de letra, Gráficos&#10;&#10;Os conteúdos gerados por IA poderão estar incorretos.">
            <a:extLst>
              <a:ext uri="{FF2B5EF4-FFF2-40B4-BE49-F238E27FC236}">
                <a16:creationId xmlns:a16="http://schemas.microsoft.com/office/drawing/2014/main" id="{8CD87A97-A965-5EC7-F1EC-C4F1B3EA3728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51163" y="2286041"/>
            <a:ext cx="720000" cy="720000"/>
          </a:xfrm>
          <a:prstGeom prst="rect">
            <a:avLst/>
          </a:prstGeom>
        </p:spPr>
      </p:pic>
      <p:pic>
        <p:nvPicPr>
          <p:cNvPr id="56" name="Imagem 55" descr="Uma imagem com texto, Tipo de letra, logótipo, Gráficos&#10;&#10;Os conteúdos gerados por IA poderão estar incorretos.">
            <a:extLst>
              <a:ext uri="{FF2B5EF4-FFF2-40B4-BE49-F238E27FC236}">
                <a16:creationId xmlns:a16="http://schemas.microsoft.com/office/drawing/2014/main" id="{055BFAFE-BFAA-3310-9F2E-F6FEC1991DB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51163" y="3131091"/>
            <a:ext cx="720000" cy="720000"/>
          </a:xfrm>
          <a:prstGeom prst="rect">
            <a:avLst/>
          </a:prstGeom>
        </p:spPr>
      </p:pic>
      <p:pic>
        <p:nvPicPr>
          <p:cNvPr id="57" name="Imagem 56" descr="Uma imagem com texto, Gráficos, mamífero, logótipo&#10;&#10;Os conteúdos gerados por IA poderão estar incorretos.">
            <a:extLst>
              <a:ext uri="{FF2B5EF4-FFF2-40B4-BE49-F238E27FC236}">
                <a16:creationId xmlns:a16="http://schemas.microsoft.com/office/drawing/2014/main" id="{66ADD09B-D616-1DF7-91B4-AD90E8CF1192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51162" y="3976141"/>
            <a:ext cx="720000" cy="720000"/>
          </a:xfrm>
          <a:prstGeom prst="rect">
            <a:avLst/>
          </a:prstGeom>
        </p:spPr>
      </p:pic>
      <p:pic>
        <p:nvPicPr>
          <p:cNvPr id="7" name="Imagem 6" descr="Uma imagem com texto, Tipo de letra, Gráficos, logótipo&#10;&#10;Os conteúdos gerados por IA poderão estar incorretos.">
            <a:extLst>
              <a:ext uri="{FF2B5EF4-FFF2-40B4-BE49-F238E27FC236}">
                <a16:creationId xmlns:a16="http://schemas.microsoft.com/office/drawing/2014/main" id="{7F35CD36-C209-62F5-6909-C717263372CE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51163" y="4821192"/>
            <a:ext cx="720000" cy="720000"/>
          </a:xfrm>
          <a:prstGeom prst="rect">
            <a:avLst/>
          </a:prstGeom>
        </p:spPr>
      </p:pic>
      <p:pic>
        <p:nvPicPr>
          <p:cNvPr id="59" name="Imagem 58" descr="Uma imagem com texto, Gráficos, Tipo de letra, design gráfico&#10;&#10;Os conteúdos gerados por IA poderão estar incorretos.">
            <a:extLst>
              <a:ext uri="{FF2B5EF4-FFF2-40B4-BE49-F238E27FC236}">
                <a16:creationId xmlns:a16="http://schemas.microsoft.com/office/drawing/2014/main" id="{F8D23EE7-672D-FEA9-0181-448AE993B987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51162" y="5666243"/>
            <a:ext cx="720000" cy="720000"/>
          </a:xfrm>
          <a:prstGeom prst="rect">
            <a:avLst/>
          </a:prstGeom>
        </p:spPr>
      </p:pic>
      <p:sp>
        <p:nvSpPr>
          <p:cNvPr id="66" name="Text Placeholder 8">
            <a:extLst>
              <a:ext uri="{FF2B5EF4-FFF2-40B4-BE49-F238E27FC236}">
                <a16:creationId xmlns:a16="http://schemas.microsoft.com/office/drawing/2014/main" id="{06DB086F-7FD7-E63B-5EE0-DD6A608AE81D}"/>
              </a:ext>
            </a:extLst>
          </p:cNvPr>
          <p:cNvSpPr txBox="1">
            <a:spLocks/>
          </p:cNvSpPr>
          <p:nvPr userDrawn="1"/>
        </p:nvSpPr>
        <p:spPr>
          <a:xfrm>
            <a:off x="9436146" y="1448573"/>
            <a:ext cx="2304000" cy="6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r>
              <a:rPr lang="pt-PT" sz="1200" b="1" dirty="0"/>
              <a:t>Sustentabilidade Ambiental</a:t>
            </a:r>
            <a:r>
              <a:rPr lang="pt-PT" sz="1200" dirty="0"/>
              <a:t> </a:t>
            </a:r>
          </a:p>
          <a:p>
            <a:pPr algn="ctr">
              <a:spcBef>
                <a:spcPts val="0"/>
              </a:spcBef>
            </a:pPr>
            <a:r>
              <a:rPr lang="pt-PT" sz="1200" dirty="0"/>
              <a:t>– Proteger o Planeta para as Futuras Gerações</a:t>
            </a:r>
          </a:p>
        </p:txBody>
      </p:sp>
      <p:sp>
        <p:nvSpPr>
          <p:cNvPr id="8" name="Parallelogram 5">
            <a:extLst>
              <a:ext uri="{FF2B5EF4-FFF2-40B4-BE49-F238E27FC236}">
                <a16:creationId xmlns:a16="http://schemas.microsoft.com/office/drawing/2014/main" id="{C89FFBE3-F342-976E-1F9A-5ED250CF85F5}"/>
              </a:ext>
            </a:extLst>
          </p:cNvPr>
          <p:cNvSpPr/>
          <p:nvPr userDrawn="1"/>
        </p:nvSpPr>
        <p:spPr>
          <a:xfrm rot="5400000" flipH="1" flipV="1">
            <a:off x="273080" y="3670041"/>
            <a:ext cx="3035032" cy="288005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FF0000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1600"/>
          </a:p>
        </p:txBody>
      </p:sp>
      <p:pic>
        <p:nvPicPr>
          <p:cNvPr id="79" name="Imagem 78" descr="Uma imagem com texto, pássaro, design&#10;&#10;Os conteúdos gerados por IA poderão estar incorretos.">
            <a:extLst>
              <a:ext uri="{FF2B5EF4-FFF2-40B4-BE49-F238E27FC236}">
                <a16:creationId xmlns:a16="http://schemas.microsoft.com/office/drawing/2014/main" id="{1D53385C-499C-A044-745C-25F668592D5B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44444" y="4644810"/>
            <a:ext cx="720000" cy="720000"/>
          </a:xfrm>
          <a:prstGeom prst="rect">
            <a:avLst/>
          </a:prstGeom>
        </p:spPr>
      </p:pic>
      <p:pic>
        <p:nvPicPr>
          <p:cNvPr id="80" name="Imagem 79" descr="Uma imagem com texto, Tipo de letra, logótipo, captura de ecrã&#10;&#10;Os conteúdos gerados por IA poderão estar incorretos.">
            <a:extLst>
              <a:ext uri="{FF2B5EF4-FFF2-40B4-BE49-F238E27FC236}">
                <a16:creationId xmlns:a16="http://schemas.microsoft.com/office/drawing/2014/main" id="{818248C5-35DD-1553-CBD5-AFFC7B31EDB7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44443" y="5489860"/>
            <a:ext cx="720000" cy="720000"/>
          </a:xfrm>
          <a:prstGeom prst="rect">
            <a:avLst/>
          </a:prstGeom>
        </p:spPr>
      </p:pic>
      <p:sp>
        <p:nvSpPr>
          <p:cNvPr id="81" name="Text Placeholder 8">
            <a:extLst>
              <a:ext uri="{FF2B5EF4-FFF2-40B4-BE49-F238E27FC236}">
                <a16:creationId xmlns:a16="http://schemas.microsoft.com/office/drawing/2014/main" id="{D2F1328D-5EB3-3B9D-38C3-47B2A5A11033}"/>
              </a:ext>
            </a:extLst>
          </p:cNvPr>
          <p:cNvSpPr txBox="1">
            <a:spLocks/>
          </p:cNvSpPr>
          <p:nvPr userDrawn="1"/>
        </p:nvSpPr>
        <p:spPr>
          <a:xfrm>
            <a:off x="831602" y="3807342"/>
            <a:ext cx="2304000" cy="6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r>
              <a:rPr lang="pt-PT" sz="1200" b="1" dirty="0"/>
              <a:t>Sustentabilidade institucional </a:t>
            </a:r>
          </a:p>
          <a:p>
            <a:pPr algn="ctr">
              <a:spcBef>
                <a:spcPts val="0"/>
              </a:spcBef>
            </a:pPr>
            <a:r>
              <a:rPr lang="pt-PT" sz="1200" dirty="0"/>
              <a:t>– Parcerias para o Desenvolvimento</a:t>
            </a:r>
          </a:p>
        </p:txBody>
      </p:sp>
      <p:grpSp>
        <p:nvGrpSpPr>
          <p:cNvPr id="92" name="Agrupar 91">
            <a:extLst>
              <a:ext uri="{FF2B5EF4-FFF2-40B4-BE49-F238E27FC236}">
                <a16:creationId xmlns:a16="http://schemas.microsoft.com/office/drawing/2014/main" id="{602F0CB0-D0EF-946A-5717-5923A66DB841}"/>
              </a:ext>
            </a:extLst>
          </p:cNvPr>
          <p:cNvGrpSpPr/>
          <p:nvPr userDrawn="1"/>
        </p:nvGrpSpPr>
        <p:grpSpPr>
          <a:xfrm>
            <a:off x="350569" y="1233781"/>
            <a:ext cx="2880054" cy="2374252"/>
            <a:chOff x="8973867" y="4129115"/>
            <a:chExt cx="2880054" cy="2374252"/>
          </a:xfrm>
        </p:grpSpPr>
        <p:sp>
          <p:nvSpPr>
            <p:cNvPr id="91" name="Retângulo 90">
              <a:extLst>
                <a:ext uri="{FF2B5EF4-FFF2-40B4-BE49-F238E27FC236}">
                  <a16:creationId xmlns:a16="http://schemas.microsoft.com/office/drawing/2014/main" id="{1F57B2DE-56F5-7C64-7D4F-5BA91FDAC1A9}"/>
                </a:ext>
              </a:extLst>
            </p:cNvPr>
            <p:cNvSpPr/>
            <p:nvPr/>
          </p:nvSpPr>
          <p:spPr>
            <a:xfrm>
              <a:off x="8973867" y="4129115"/>
              <a:ext cx="2880054" cy="23587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9" name="Imagem 88" descr="Uma imagem com texto, logótipo, Tipo de letra, Gráficos&#10;&#10;Os conteúdos gerados por IA poderão estar incorretos.">
              <a:extLst>
                <a:ext uri="{FF2B5EF4-FFF2-40B4-BE49-F238E27FC236}">
                  <a16:creationId xmlns:a16="http://schemas.microsoft.com/office/drawing/2014/main" id="{7C4C1FB5-DE45-674A-ED92-5277247BB9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798392" y="4400262"/>
              <a:ext cx="1254025" cy="850457"/>
            </a:xfrm>
            <a:prstGeom prst="rect">
              <a:avLst/>
            </a:prstGeom>
          </p:spPr>
        </p:pic>
        <p:sp>
          <p:nvSpPr>
            <p:cNvPr id="90" name="Text Placeholder 8">
              <a:extLst>
                <a:ext uri="{FF2B5EF4-FFF2-40B4-BE49-F238E27FC236}">
                  <a16:creationId xmlns:a16="http://schemas.microsoft.com/office/drawing/2014/main" id="{CF8285E5-5E25-7560-04AE-3835FBFD7417}"/>
                </a:ext>
              </a:extLst>
            </p:cNvPr>
            <p:cNvSpPr txBox="1">
              <a:spLocks/>
            </p:cNvSpPr>
            <p:nvPr/>
          </p:nvSpPr>
          <p:spPr>
            <a:xfrm>
              <a:off x="8973867" y="5363207"/>
              <a:ext cx="2880054" cy="11401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anchor="ctr"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</a:pPr>
              <a:r>
                <a:rPr lang="pt-PT" sz="1200" b="1" dirty="0"/>
                <a:t>Instruções: </a:t>
              </a:r>
              <a:r>
                <a:rPr lang="pt-PT" sz="1200" dirty="0"/>
                <a:t>Assinala com um X a categoria em que o teu Projeto se insere (escolhe só uma categoria!) , depois assinala com um X qual/quais os </a:t>
              </a:r>
              <a:r>
                <a:rPr lang="pt-PT" sz="1200" dirty="0" err="1"/>
                <a:t>ODS</a:t>
              </a:r>
              <a:r>
                <a:rPr lang="pt-PT" sz="1200" dirty="0"/>
                <a:t> que são visados dentro dessa categoria. </a:t>
              </a:r>
            </a:p>
          </p:txBody>
        </p:sp>
      </p:grpSp>
      <p:sp>
        <p:nvSpPr>
          <p:cNvPr id="21" name="TextBox 7">
            <a:extLst>
              <a:ext uri="{FF2B5EF4-FFF2-40B4-BE49-F238E27FC236}">
                <a16:creationId xmlns:a16="http://schemas.microsoft.com/office/drawing/2014/main" id="{65534E1D-F719-1E2D-AEF4-CF816E04E9E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060370" y="246920"/>
            <a:ext cx="202311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900" i="1" dirty="0">
                <a:solidFill>
                  <a:schemeClr val="bg1"/>
                </a:solidFill>
                <a:latin typeface="Arial" charset="0"/>
                <a:cs typeface="Arial" charset="0"/>
              </a:rPr>
              <a:t>Designed for:</a:t>
            </a:r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187E59AF-9CE7-68B0-806B-5E7FBB6C9C4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538736" y="246920"/>
            <a:ext cx="140335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900" i="1" dirty="0">
                <a:solidFill>
                  <a:schemeClr val="bg1"/>
                </a:solidFill>
                <a:latin typeface="Arial" charset="0"/>
                <a:cs typeface="Arial" charset="0"/>
              </a:rPr>
              <a:t>Designed by:</a:t>
            </a:r>
          </a:p>
        </p:txBody>
      </p:sp>
      <p:pic>
        <p:nvPicPr>
          <p:cNvPr id="16" name="Imagen 15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C9A63295-3BC2-9CBE-0B63-A3A9C437A7C0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44" y="99929"/>
            <a:ext cx="1326752" cy="10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18037D46-0930-A8F9-7AEB-134BBC3B66F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Imagen 3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76534B29-2461-89D4-2BEC-FD20858D61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46" y="138546"/>
            <a:ext cx="1822123" cy="141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665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87762E2D-AF23-CB8C-85C2-B52CB6EFC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2157232-E470-83FA-B29E-4C5600977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F9BC644-6806-088C-6417-DA90866893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D1C521-A323-471A-9903-33F91AF1DD3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79805B7-2D09-CFD4-B093-F36A2F7C1C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5EDDE3C-0355-3AE9-13EE-7D91054AAC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40A073-17C4-4422-A54E-B3752E9D7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0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4" r:id="rId2"/>
    <p:sldLayoutId id="2147483660" r:id="rId3"/>
    <p:sldLayoutId id="2147483665" r:id="rId4"/>
    <p:sldLayoutId id="214748367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8233D052-2214-33EB-EE0A-6A879906E11F}"/>
              </a:ext>
            </a:extLst>
          </p:cNvPr>
          <p:cNvSpPr txBox="1">
            <a:spLocks/>
          </p:cNvSpPr>
          <p:nvPr/>
        </p:nvSpPr>
        <p:spPr>
          <a:xfrm>
            <a:off x="5078188" y="1223514"/>
            <a:ext cx="6536872" cy="425836"/>
          </a:xfrm>
          <a:prstGeom prst="rect">
            <a:avLst/>
          </a:prstGeom>
          <a:noFill/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 err="1"/>
              <a:t>Teyka</a:t>
            </a:r>
            <a:endParaRPr lang="en-GB" sz="1600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93B673BB-C0CE-4301-07FE-6EFD21451A08}"/>
              </a:ext>
            </a:extLst>
          </p:cNvPr>
          <p:cNvSpPr txBox="1">
            <a:spLocks/>
          </p:cNvSpPr>
          <p:nvPr/>
        </p:nvSpPr>
        <p:spPr>
          <a:xfrm>
            <a:off x="5078188" y="2246771"/>
            <a:ext cx="6536872" cy="425836"/>
          </a:xfrm>
          <a:prstGeom prst="rect">
            <a:avLst/>
          </a:prstGeom>
          <a:noFill/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/>
              <a:t>Martín Díaz Fernández, Santiago Pereira Olmedo, Álvaro Schwiedop Souto, Diego Suárez Castro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78BAD555-6D7B-D070-2F0F-98E5BD5BC055}"/>
              </a:ext>
            </a:extLst>
          </p:cNvPr>
          <p:cNvSpPr txBox="1">
            <a:spLocks/>
          </p:cNvSpPr>
          <p:nvPr/>
        </p:nvSpPr>
        <p:spPr>
          <a:xfrm>
            <a:off x="5078188" y="3170761"/>
            <a:ext cx="6536872" cy="425836"/>
          </a:xfrm>
          <a:prstGeom prst="rect">
            <a:avLst/>
          </a:prstGeom>
          <a:noFill/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/>
              <a:t>Universidad de Santiago de Compostela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A2765768-B605-BAB1-EA4F-76508DDD508E}"/>
              </a:ext>
            </a:extLst>
          </p:cNvPr>
          <p:cNvSpPr txBox="1">
            <a:spLocks/>
          </p:cNvSpPr>
          <p:nvPr/>
        </p:nvSpPr>
        <p:spPr>
          <a:xfrm>
            <a:off x="5078188" y="4094751"/>
            <a:ext cx="6536872" cy="425836"/>
          </a:xfrm>
          <a:prstGeom prst="rect">
            <a:avLst/>
          </a:prstGeom>
          <a:noFill/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/>
              <a:t>Escuela Técnica Superior de Ingeniería</a:t>
            </a:r>
          </a:p>
        </p:txBody>
      </p:sp>
    </p:spTree>
    <p:extLst>
      <p:ext uri="{BB962C8B-B14F-4D97-AF65-F5344CB8AC3E}">
        <p14:creationId xmlns:p14="http://schemas.microsoft.com/office/powerpoint/2010/main" val="3235266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09D8E202-6C3C-7577-3BF5-FC46615680F1}"/>
              </a:ext>
            </a:extLst>
          </p:cNvPr>
          <p:cNvSpPr txBox="1">
            <a:spLocks/>
          </p:cNvSpPr>
          <p:nvPr/>
        </p:nvSpPr>
        <p:spPr>
          <a:xfrm>
            <a:off x="2960912" y="575648"/>
            <a:ext cx="2677889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/>
              <a:t>Teyka</a:t>
            </a:r>
            <a:endParaRPr lang="en-GB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FDE3E5C3-B605-BE51-3A59-E1EFAC267DDF}"/>
              </a:ext>
            </a:extLst>
          </p:cNvPr>
          <p:cNvSpPr txBox="1">
            <a:spLocks/>
          </p:cNvSpPr>
          <p:nvPr/>
        </p:nvSpPr>
        <p:spPr>
          <a:xfrm>
            <a:off x="5802086" y="575648"/>
            <a:ext cx="5551714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Martín Díaz Fernández, Santiago Pereira Olmedo, Álvaro Schwiedop Souto, Diego Suárez Castro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26E74BC0-75A3-4E7B-6601-D8AB19666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0914" y="1072712"/>
            <a:ext cx="8392886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2000" i="1" dirty="0">
                <a:solidFill>
                  <a:srgbClr val="156082"/>
                </a:solidFill>
                <a:latin typeface="Arial" charset="0"/>
                <a:cs typeface="Arial" charset="0"/>
              </a:rPr>
              <a:t>Una app para </a:t>
            </a:r>
            <a:r>
              <a:rPr lang="en-GB" sz="2000" i="1" dirty="0" err="1">
                <a:solidFill>
                  <a:srgbClr val="156082"/>
                </a:solidFill>
                <a:latin typeface="Arial" charset="0"/>
                <a:cs typeface="Arial" charset="0"/>
              </a:rPr>
              <a:t>enseñarte</a:t>
            </a:r>
            <a:r>
              <a:rPr lang="en-GB" sz="2000" i="1" dirty="0">
                <a:solidFill>
                  <a:srgbClr val="156082"/>
                </a:solidFill>
                <a:latin typeface="Arial" charset="0"/>
                <a:cs typeface="Arial" charset="0"/>
              </a:rPr>
              <a:t> </a:t>
            </a:r>
            <a:r>
              <a:rPr lang="en-GB" sz="2000" i="1" dirty="0" err="1">
                <a:solidFill>
                  <a:srgbClr val="156082"/>
                </a:solidFill>
                <a:latin typeface="Arial" charset="0"/>
                <a:cs typeface="Arial" charset="0"/>
              </a:rPr>
              <a:t>el</a:t>
            </a:r>
            <a:r>
              <a:rPr lang="en-GB" sz="2000" i="1" dirty="0">
                <a:solidFill>
                  <a:srgbClr val="156082"/>
                </a:solidFill>
                <a:latin typeface="Arial" charset="0"/>
                <a:cs typeface="Arial" charset="0"/>
              </a:rPr>
              <a:t> </a:t>
            </a:r>
            <a:r>
              <a:rPr lang="en-GB" sz="2000" i="1" dirty="0" err="1">
                <a:solidFill>
                  <a:srgbClr val="156082"/>
                </a:solidFill>
                <a:latin typeface="Arial" charset="0"/>
                <a:cs typeface="Arial" charset="0"/>
              </a:rPr>
              <a:t>mejor</a:t>
            </a:r>
            <a:r>
              <a:rPr lang="en-GB" sz="2000" i="1" dirty="0">
                <a:solidFill>
                  <a:srgbClr val="156082"/>
                </a:solidFill>
                <a:latin typeface="Arial" charset="0"/>
                <a:cs typeface="Arial" charset="0"/>
              </a:rPr>
              <a:t> </a:t>
            </a:r>
            <a:r>
              <a:rPr lang="en-GB" sz="2000" i="1" dirty="0" err="1">
                <a:solidFill>
                  <a:srgbClr val="156082"/>
                </a:solidFill>
                <a:latin typeface="Arial" charset="0"/>
                <a:cs typeface="Arial" charset="0"/>
              </a:rPr>
              <a:t>momento</a:t>
            </a:r>
            <a:r>
              <a:rPr lang="en-GB" sz="2000" i="1" dirty="0">
                <a:solidFill>
                  <a:srgbClr val="156082"/>
                </a:solidFill>
                <a:latin typeface="Arial" charset="0"/>
                <a:cs typeface="Arial" charset="0"/>
              </a:rPr>
              <a:t> para </a:t>
            </a:r>
            <a:r>
              <a:rPr lang="en-GB" sz="2000" i="1" dirty="0" err="1">
                <a:solidFill>
                  <a:srgbClr val="156082"/>
                </a:solidFill>
                <a:latin typeface="Arial" charset="0"/>
                <a:cs typeface="Arial" charset="0"/>
              </a:rPr>
              <a:t>dejar</a:t>
            </a:r>
            <a:r>
              <a:rPr lang="en-GB" sz="2000" i="1" dirty="0">
                <a:solidFill>
                  <a:srgbClr val="156082"/>
                </a:solidFill>
                <a:latin typeface="Arial" charset="0"/>
                <a:cs typeface="Arial" charset="0"/>
              </a:rPr>
              <a:t> de usar </a:t>
            </a:r>
            <a:r>
              <a:rPr lang="en-GB" sz="2000" i="1" dirty="0" err="1">
                <a:solidFill>
                  <a:srgbClr val="156082"/>
                </a:solidFill>
                <a:latin typeface="Arial" charset="0"/>
                <a:cs typeface="Arial" charset="0"/>
              </a:rPr>
              <a:t>el</a:t>
            </a:r>
            <a:r>
              <a:rPr lang="en-GB" sz="2000" i="1" dirty="0">
                <a:solidFill>
                  <a:srgbClr val="156082"/>
                </a:solidFill>
                <a:latin typeface="Arial" charset="0"/>
                <a:cs typeface="Arial" charset="0"/>
              </a:rPr>
              <a:t> </a:t>
            </a:r>
            <a:r>
              <a:rPr lang="en-GB" sz="2000" i="1" dirty="0" err="1">
                <a:solidFill>
                  <a:srgbClr val="156082"/>
                </a:solidFill>
                <a:latin typeface="Arial" charset="0"/>
                <a:cs typeface="Arial" charset="0"/>
              </a:rPr>
              <a:t>móvil</a:t>
            </a:r>
            <a:endParaRPr lang="en-GB" sz="2000" i="1" dirty="0">
              <a:solidFill>
                <a:srgbClr val="156082"/>
              </a:solidFill>
              <a:latin typeface="Arial" charset="0"/>
              <a:cs typeface="Arial" charset="0"/>
            </a:endParaRPr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63E1DADE-9451-347D-FA27-301B3A7184E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971124" y="1852613"/>
            <a:ext cx="6249752" cy="4351337"/>
          </a:xfrm>
          <a:prstGeom prst="rect">
            <a:avLst/>
          </a:prstGeom>
          <a:solidFill>
            <a:prstClr val="white"/>
          </a:solidFill>
        </p:spPr>
      </p:pic>
    </p:spTree>
    <p:extLst>
      <p:ext uri="{BB962C8B-B14F-4D97-AF65-F5344CB8AC3E}">
        <p14:creationId xmlns:p14="http://schemas.microsoft.com/office/powerpoint/2010/main" val="1466593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7FF9F866-4CF1-8A98-7227-F8ADB13F73E0}"/>
              </a:ext>
            </a:extLst>
          </p:cNvPr>
          <p:cNvSpPr txBox="1">
            <a:spLocks/>
          </p:cNvSpPr>
          <p:nvPr/>
        </p:nvSpPr>
        <p:spPr>
          <a:xfrm>
            <a:off x="566069" y="1251887"/>
            <a:ext cx="2100099" cy="1530000"/>
          </a:xfrm>
          <a:prstGeom prst="rect">
            <a:avLst/>
          </a:prstGeom>
          <a:solidFill>
            <a:srgbClr val="FFFFFF"/>
          </a:solidFill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indent="0" algn="l" defTabSz="914400" rtl="0" eaLnBrk="1" latinLnBrk="0" hangingPunct="1">
              <a:buNone/>
              <a:defRPr sz="9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Pérdida de autorregulación en el uso del móvil.</a:t>
            </a:r>
          </a:p>
          <a:p>
            <a:endParaRPr lang="es-E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Ineficacia del control tradicional: Las herramientas actuales actúan como un "policía digital" que genera fricción.</a:t>
            </a:r>
          </a:p>
          <a:p>
            <a:endParaRPr lang="es-E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Burnout y salud mental: Las empresas sufren absentismo por burnout, y un 76% de los jóvenes ya declara que desea usar menos su móvil. 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DA7CF289-1031-DE2B-32D6-2A1DD3DBCBA7}"/>
              </a:ext>
            </a:extLst>
          </p:cNvPr>
          <p:cNvSpPr txBox="1">
            <a:spLocks/>
          </p:cNvSpPr>
          <p:nvPr/>
        </p:nvSpPr>
        <p:spPr>
          <a:xfrm>
            <a:off x="2811717" y="1251887"/>
            <a:ext cx="2100099" cy="1530000"/>
          </a:xfrm>
          <a:prstGeom prst="rect">
            <a:avLst/>
          </a:prstGeom>
          <a:solidFill>
            <a:srgbClr val="FFFFFF"/>
          </a:solidFill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indent="0" algn="ctr" defTabSz="914400" rtl="0" eaLnBrk="1" latinLnBrk="0" hangingPunct="1">
              <a:buNone/>
              <a:defRPr sz="9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Monitorización Biométrica Continua: Cálculo en tiempo real del Índice de Saturación.</a:t>
            </a:r>
          </a:p>
          <a:p>
            <a:pPr algn="l"/>
            <a:endParaRPr lang="es-E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Intervención Proactiva con IA: El sistema actúa antes de que ocurra el daño, ejecutando "</a:t>
            </a:r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nudges</a:t>
            </a: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“.</a:t>
            </a:r>
          </a:p>
          <a:p>
            <a:pPr algn="l"/>
            <a:endParaRPr lang="es-E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Dashboard</a:t>
            </a: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Avanzado: Una interfaz analítica que permite monitorizar el estado global y cruzar variables.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707EFD7D-23F2-8DCB-6C25-98F206C4525F}"/>
              </a:ext>
            </a:extLst>
          </p:cNvPr>
          <p:cNvSpPr txBox="1">
            <a:spLocks/>
          </p:cNvSpPr>
          <p:nvPr/>
        </p:nvSpPr>
        <p:spPr>
          <a:xfrm>
            <a:off x="5065077" y="1251887"/>
            <a:ext cx="2100099" cy="1530000"/>
          </a:xfrm>
          <a:prstGeom prst="rect">
            <a:avLst/>
          </a:prstGeom>
          <a:solidFill>
            <a:srgbClr val="FFFFFF"/>
          </a:solidFill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indent="0" algn="r" defTabSz="914400" rtl="0" eaLnBrk="1" latinLnBrk="0" hangingPunct="1">
              <a:buNone/>
              <a:defRPr sz="9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Mensaje central: "De la biometría pasiva a la intervención proactiva".</a:t>
            </a:r>
          </a:p>
          <a:p>
            <a:pPr algn="l"/>
            <a:endParaRPr lang="es-E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Diferenciación: Transformamos la variabilidad cardíaca en fatiga cognitiva accionable mediante biometría invisible, logrando una precisión un 32,8% superior al </a:t>
            </a:r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Screen</a:t>
            </a: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Time actual para actuar antes de que el usuario se sature.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2B1D77E5-2F95-C37B-6267-768980C76DFB}"/>
              </a:ext>
            </a:extLst>
          </p:cNvPr>
          <p:cNvSpPr txBox="1">
            <a:spLocks/>
          </p:cNvSpPr>
          <p:nvPr/>
        </p:nvSpPr>
        <p:spPr>
          <a:xfrm>
            <a:off x="7316622" y="1241154"/>
            <a:ext cx="2100099" cy="1530000"/>
          </a:xfrm>
          <a:prstGeom prst="rect">
            <a:avLst/>
          </a:prstGeom>
          <a:solidFill>
            <a:srgbClr val="FFFFFF"/>
          </a:solidFill>
        </p:spPr>
        <p:txBody>
          <a:bodyPr vert="horz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Respaldo Científico y de Datos: Uso validado del </a:t>
            </a:r>
            <a:r>
              <a:rPr kumimoji="0" lang="es-E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dataset</a:t>
            </a:r>
            <a:r>
              <a:rPr kumimoji="0" lang="es-E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científico de estudios longitudinales recientes como GLOBEM (</a:t>
            </a:r>
            <a:r>
              <a:rPr kumimoji="0" lang="es-E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University</a:t>
            </a:r>
            <a:r>
              <a:rPr kumimoji="0" lang="es-E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E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of</a:t>
            </a:r>
            <a:r>
              <a:rPr kumimoji="0" lang="es-E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Washington).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Aval y Reputación: Ser los ganadores del hackathon </a:t>
            </a:r>
            <a:r>
              <a:rPr kumimoji="0" lang="es-E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Impacthon</a:t>
            </a:r>
            <a:r>
              <a:rPr kumimoji="0" lang="es-E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de la USC (premio GEM) nos otorga un sello de garantía ante inversores y socios.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68B2E19F-1DAA-F274-C8C2-58505ED4803B}"/>
              </a:ext>
            </a:extLst>
          </p:cNvPr>
          <p:cNvSpPr txBox="1">
            <a:spLocks/>
          </p:cNvSpPr>
          <p:nvPr/>
        </p:nvSpPr>
        <p:spPr>
          <a:xfrm>
            <a:off x="9575880" y="1241154"/>
            <a:ext cx="2100099" cy="1530000"/>
          </a:xfrm>
          <a:prstGeom prst="rect">
            <a:avLst/>
          </a:prstGeom>
          <a:solidFill>
            <a:srgbClr val="FFFFFF"/>
          </a:solidFill>
        </p:spPr>
        <p:txBody>
          <a:bodyPr vert="horz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Usuarios Finales: Jóvenes y estudiantes  y los 562 millones de usuarios de smartwatches.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Clientes (B2B): Fabricantes de smartwatches y corporaciones que quieren reducir el absentismo.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Alternativas actuales: Los usuarios dependen actualmente de controles parentales  o analíticas pasivas.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881E348A-B30B-8B4E-8ED8-647EE178349D}"/>
              </a:ext>
            </a:extLst>
          </p:cNvPr>
          <p:cNvSpPr txBox="1">
            <a:spLocks/>
          </p:cNvSpPr>
          <p:nvPr/>
        </p:nvSpPr>
        <p:spPr>
          <a:xfrm>
            <a:off x="566069" y="5061887"/>
            <a:ext cx="5459991" cy="14478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Modelo </a:t>
            </a:r>
            <a:r>
              <a:rPr kumimoji="0" lang="es-E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Asset</a:t>
            </a:r>
            <a:r>
              <a:rPr kumimoji="0" lang="es-E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-Light: Cero gastos en hardware, fabricación, logística o stock, lo que reduce radicalmente el riesgo.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Costes variables (Hosting/Infraestructura): Estructura de costes en la nube que es elástica y proporcional al uso; la inversión solo crece si crecen los ingresos.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Financiación Inicial: Apoyo de subvenciones estratégicas como ENISA o el IGAPE para absorber los costes iniciales de desarrollo.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D527E6DB-A421-906C-6356-39AB7808C483}"/>
              </a:ext>
            </a:extLst>
          </p:cNvPr>
          <p:cNvSpPr txBox="1">
            <a:spLocks/>
          </p:cNvSpPr>
          <p:nvPr/>
        </p:nvSpPr>
        <p:spPr>
          <a:xfrm>
            <a:off x="6248601" y="5061887"/>
            <a:ext cx="5427379" cy="14478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GB" sz="900" kern="1200" baseline="0" dirty="0" smtClean="0">
                <a:solidFill>
                  <a:schemeClr val="tx1"/>
                </a:solidFill>
                <a:latin typeface="Arial"/>
                <a:ea typeface="MS PGothic" panose="020B0600070205080204" pitchFamily="34" charset="-128"/>
                <a:cs typeface="Arial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900" kern="1200" baseline="0" dirty="0" smtClean="0">
                <a:solidFill>
                  <a:schemeClr val="tx1"/>
                </a:solidFill>
                <a:latin typeface="Arial"/>
                <a:ea typeface="MS PGothic" panose="020B0600070205080204" pitchFamily="34" charset="-128"/>
                <a:cs typeface="Arial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900" kern="1200" baseline="0" dirty="0" smtClean="0">
                <a:solidFill>
                  <a:schemeClr val="tx1"/>
                </a:solidFill>
                <a:latin typeface="Arial"/>
                <a:ea typeface="MS PGothic" panose="020B0600070205080204" pitchFamily="34" charset="-128"/>
                <a:cs typeface="Arial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900" kern="1200" baseline="0" dirty="0" smtClean="0">
                <a:solidFill>
                  <a:schemeClr val="tx1"/>
                </a:solidFill>
                <a:latin typeface="Arial"/>
                <a:ea typeface="MS PGothic" panose="020B0600070205080204" pitchFamily="34" charset="-128"/>
                <a:cs typeface="Arial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Licenciamiento SDK: Contratos con fabricantes de smartwatches bajo un modelo de pago por uso y tasa por usuario activo.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Dashboards</a:t>
            </a:r>
            <a:r>
              <a:rPr kumimoji="0" lang="es-E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Corporativos (B2B): Venta de la plataforma a empresas interesadas en la salud laboral y reducción de burnout.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Márgenes y Retorno: Operamos con un margen bruto de software superior al 70%, con la proyección financiera de recuperar la inversión en apenas 12 meses.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A88557BF-944A-58D5-7654-C16471E2665E}"/>
              </a:ext>
            </a:extLst>
          </p:cNvPr>
          <p:cNvSpPr txBox="1">
            <a:spLocks/>
          </p:cNvSpPr>
          <p:nvPr/>
        </p:nvSpPr>
        <p:spPr>
          <a:xfrm>
            <a:off x="2807683" y="3146388"/>
            <a:ext cx="2100099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Precisión de los algoritmos e Índice de Saturación mediante el análisis de correlaciones de Pearson en el entorno de simulación.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Niveles de retención de los usuarios en el ecosistema acotado.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Medición del impacto real en el rendimiento académico durante el piloto controlado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2" name="Text Placeholder 8">
            <a:extLst>
              <a:ext uri="{FF2B5EF4-FFF2-40B4-BE49-F238E27FC236}">
                <a16:creationId xmlns:a16="http://schemas.microsoft.com/office/drawing/2014/main" id="{9CC03573-5194-0CC6-0088-521E9010DAF1}"/>
              </a:ext>
            </a:extLst>
          </p:cNvPr>
          <p:cNvSpPr txBox="1">
            <a:spLocks/>
          </p:cNvSpPr>
          <p:nvPr/>
        </p:nvSpPr>
        <p:spPr>
          <a:xfrm>
            <a:off x="7325976" y="3123929"/>
            <a:ext cx="2100099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dirty="0">
                <a:latin typeface="+mj-lt"/>
              </a:rPr>
              <a:t>Acuerdo de exclusividad inicial con un fabricante de nicho de smartwatches.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ES" dirty="0">
              <a:latin typeface="+mj-lt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dirty="0">
                <a:latin typeface="+mj-lt"/>
              </a:rPr>
              <a:t>Despliegue de un piloto controlado dentro del entorno de la Universidad.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ES" dirty="0">
              <a:latin typeface="+mj-lt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dirty="0">
                <a:latin typeface="+mj-lt"/>
              </a:rPr>
              <a:t>Modelo B2B2C para escalar progresivamente la distribución del SDK hacia los líderes del mercado.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6" name="Text Placeholder 8">
            <a:extLst>
              <a:ext uri="{FF2B5EF4-FFF2-40B4-BE49-F238E27FC236}">
                <a16:creationId xmlns:a16="http://schemas.microsoft.com/office/drawing/2014/main" id="{01840856-41EC-7905-1E57-84FDEA3706F6}"/>
              </a:ext>
            </a:extLst>
          </p:cNvPr>
          <p:cNvSpPr txBox="1">
            <a:spLocks/>
          </p:cNvSpPr>
          <p:nvPr/>
        </p:nvSpPr>
        <p:spPr>
          <a:xfrm>
            <a:off x="5047356" y="3133074"/>
            <a:ext cx="2100099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C5103BBE-D164-DB6D-38D8-F849F71DC267}"/>
              </a:ext>
            </a:extLst>
          </p:cNvPr>
          <p:cNvSpPr txBox="1">
            <a:spLocks/>
          </p:cNvSpPr>
          <p:nvPr/>
        </p:nvSpPr>
        <p:spPr>
          <a:xfrm>
            <a:off x="9566492" y="3133074"/>
            <a:ext cx="2100099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Estudiantes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y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usuarios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de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Smarwatches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de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pequeñas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empresas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F6B3D439-B97D-AD6A-8A3C-B7B2D2CCC68F}"/>
              </a:ext>
            </a:extLst>
          </p:cNvPr>
          <p:cNvSpPr txBox="1">
            <a:spLocks/>
          </p:cNvSpPr>
          <p:nvPr/>
        </p:nvSpPr>
        <p:spPr>
          <a:xfrm>
            <a:off x="568777" y="3133074"/>
            <a:ext cx="2100099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Google Family Link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err="1">
                <a:latin typeface="+mj-lt"/>
              </a:rPr>
              <a:t>Analíticas</a:t>
            </a:r>
            <a:r>
              <a:rPr lang="en-US" altLang="en-US" dirty="0">
                <a:latin typeface="+mj-lt"/>
              </a:rPr>
              <a:t> </a:t>
            </a:r>
            <a:r>
              <a:rPr lang="en-US" altLang="en-US" dirty="0" err="1">
                <a:latin typeface="+mj-lt"/>
              </a:rPr>
              <a:t>pasivas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AEFB6DDD-ADC1-871C-1283-24D4BBCD4C62}"/>
              </a:ext>
            </a:extLst>
          </p:cNvPr>
          <p:cNvSpPr txBox="1">
            <a:spLocks/>
          </p:cNvSpPr>
          <p:nvPr/>
        </p:nvSpPr>
        <p:spPr>
          <a:xfrm>
            <a:off x="4093029" y="466792"/>
            <a:ext cx="2296886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/>
              <a:t>Teyka</a:t>
            </a:r>
            <a:endParaRPr lang="en-GB" dirty="0"/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FFE4D2A7-5A9F-B3EC-FDCC-4A088D34D823}"/>
              </a:ext>
            </a:extLst>
          </p:cNvPr>
          <p:cNvSpPr txBox="1">
            <a:spLocks/>
          </p:cNvSpPr>
          <p:nvPr/>
        </p:nvSpPr>
        <p:spPr>
          <a:xfrm>
            <a:off x="6607629" y="466792"/>
            <a:ext cx="5147601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Martín Díaz Fernández, Santiago Pereira Olmedo, Álvaro Schwiedop Souto, Diego Suárez Castro</a:t>
            </a:r>
          </a:p>
        </p:txBody>
      </p:sp>
    </p:spTree>
    <p:extLst>
      <p:ext uri="{BB962C8B-B14F-4D97-AF65-F5344CB8AC3E}">
        <p14:creationId xmlns:p14="http://schemas.microsoft.com/office/powerpoint/2010/main" val="2156033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Agrupar 96">
            <a:extLst>
              <a:ext uri="{FF2B5EF4-FFF2-40B4-BE49-F238E27FC236}">
                <a16:creationId xmlns:a16="http://schemas.microsoft.com/office/drawing/2014/main" id="{0988CC3E-611E-764E-DE72-BDC6E69BB4D1}"/>
              </a:ext>
            </a:extLst>
          </p:cNvPr>
          <p:cNvGrpSpPr/>
          <p:nvPr/>
        </p:nvGrpSpPr>
        <p:grpSpPr>
          <a:xfrm>
            <a:off x="445587" y="1448573"/>
            <a:ext cx="9665877" cy="4505670"/>
            <a:chOff x="445587" y="1448573"/>
            <a:chExt cx="9665877" cy="450567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984F5409-C18B-EFF2-A2FC-705D567B03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32158" y="1448573"/>
              <a:ext cx="288000" cy="602929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EF41CF9A-1601-BE3C-E063-57140BC5FC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95057" y="2286041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DC2AE54C-E193-3D0D-ED40-5E01659D01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95057" y="3131092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9249EFA0-AEFA-8EF8-9EE3-B74ACE57FE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95057" y="3980817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B97C228B-DBE3-9947-FA4A-87D8C5D4C4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95057" y="4821193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C7563AB-BC65-CEAE-FB64-9ACC59DA70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95057" y="5666243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9" name="Retângulo 28">
              <a:extLst>
                <a:ext uri="{FF2B5EF4-FFF2-40B4-BE49-F238E27FC236}">
                  <a16:creationId xmlns:a16="http://schemas.microsoft.com/office/drawing/2014/main" id="{09AE5405-39A1-1218-5041-0C5A47DE22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37834" y="2286041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D2F0F82C-647D-D4E9-807B-8004BA96A0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37834" y="3131091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1" name="Retângulo 30">
              <a:extLst>
                <a:ext uri="{FF2B5EF4-FFF2-40B4-BE49-F238E27FC236}">
                  <a16:creationId xmlns:a16="http://schemas.microsoft.com/office/drawing/2014/main" id="{9DC6C20C-4C52-D575-7253-4B823C7F8E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37834" y="3980815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2" name="Retângulo 31">
              <a:extLst>
                <a:ext uri="{FF2B5EF4-FFF2-40B4-BE49-F238E27FC236}">
                  <a16:creationId xmlns:a16="http://schemas.microsoft.com/office/drawing/2014/main" id="{60C01BDC-D2CE-A9D6-689F-E2A50228DF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37834" y="4821191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3" name="Retângulo 32">
              <a:extLst>
                <a:ext uri="{FF2B5EF4-FFF2-40B4-BE49-F238E27FC236}">
                  <a16:creationId xmlns:a16="http://schemas.microsoft.com/office/drawing/2014/main" id="{A79E05EA-958B-014F-830D-F96C2AED917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37834" y="5666243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2" name="Retângulo 51">
              <a:extLst>
                <a:ext uri="{FF2B5EF4-FFF2-40B4-BE49-F238E27FC236}">
                  <a16:creationId xmlns:a16="http://schemas.microsoft.com/office/drawing/2014/main" id="{FF8C510C-6558-C204-E91B-242309F76D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74299" y="1448573"/>
              <a:ext cx="288000" cy="602929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1" name="Retângulo 60">
              <a:extLst>
                <a:ext uri="{FF2B5EF4-FFF2-40B4-BE49-F238E27FC236}">
                  <a16:creationId xmlns:a16="http://schemas.microsoft.com/office/drawing/2014/main" id="{6C16F99E-F9C1-B3B1-0648-5A23287E40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23464" y="2286041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2" name="Retângulo 61">
              <a:extLst>
                <a:ext uri="{FF2B5EF4-FFF2-40B4-BE49-F238E27FC236}">
                  <a16:creationId xmlns:a16="http://schemas.microsoft.com/office/drawing/2014/main" id="{2E01AD63-F7BB-64F5-4D66-F86B6EA50C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23464" y="3136694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3" name="Retângulo 62">
              <a:extLst>
                <a:ext uri="{FF2B5EF4-FFF2-40B4-BE49-F238E27FC236}">
                  <a16:creationId xmlns:a16="http://schemas.microsoft.com/office/drawing/2014/main" id="{86EC7352-7C66-3394-045E-8336529A9E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23464" y="3981744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4" name="Retângulo 63">
              <a:extLst>
                <a:ext uri="{FF2B5EF4-FFF2-40B4-BE49-F238E27FC236}">
                  <a16:creationId xmlns:a16="http://schemas.microsoft.com/office/drawing/2014/main" id="{0ADE417F-988A-FEE4-F41B-18323C1971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23464" y="4821192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5" name="Retângulo 64">
              <a:extLst>
                <a:ext uri="{FF2B5EF4-FFF2-40B4-BE49-F238E27FC236}">
                  <a16:creationId xmlns:a16="http://schemas.microsoft.com/office/drawing/2014/main" id="{E17649E7-909E-8777-13CA-FB3C09DFB8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23464" y="5666243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AF58057-A8B8-6C2A-9021-8826115F2E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54480" y="1448573"/>
              <a:ext cx="288000" cy="602929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77" name="Retângulo 76">
              <a:extLst>
                <a:ext uri="{FF2B5EF4-FFF2-40B4-BE49-F238E27FC236}">
                  <a16:creationId xmlns:a16="http://schemas.microsoft.com/office/drawing/2014/main" id="{695904E5-725C-61F1-276A-8B1C1562D6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6745" y="4644810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78" name="Retângulo 77">
              <a:extLst>
                <a:ext uri="{FF2B5EF4-FFF2-40B4-BE49-F238E27FC236}">
                  <a16:creationId xmlns:a16="http://schemas.microsoft.com/office/drawing/2014/main" id="{6FD525DC-CAB5-2A79-FC0D-40F0A773E7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6745" y="5489860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0FC0AC38-BA5D-26A0-8B2E-DADB8D674C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5587" y="3807342"/>
              <a:ext cx="288000" cy="602929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95" name="Text Placeholder 8">
            <a:extLst>
              <a:ext uri="{FF2B5EF4-FFF2-40B4-BE49-F238E27FC236}">
                <a16:creationId xmlns:a16="http://schemas.microsoft.com/office/drawing/2014/main" id="{09DAAC8D-E5CE-90E2-D3E0-84312A864025}"/>
              </a:ext>
            </a:extLst>
          </p:cNvPr>
          <p:cNvSpPr txBox="1">
            <a:spLocks/>
          </p:cNvSpPr>
          <p:nvPr/>
        </p:nvSpPr>
        <p:spPr>
          <a:xfrm>
            <a:off x="4093029" y="530292"/>
            <a:ext cx="2296886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/>
              <a:t>Teyka</a:t>
            </a:r>
            <a:endParaRPr lang="en-GB" dirty="0"/>
          </a:p>
        </p:txBody>
      </p:sp>
      <p:sp>
        <p:nvSpPr>
          <p:cNvPr id="96" name="Text Placeholder 8">
            <a:extLst>
              <a:ext uri="{FF2B5EF4-FFF2-40B4-BE49-F238E27FC236}">
                <a16:creationId xmlns:a16="http://schemas.microsoft.com/office/drawing/2014/main" id="{418DAD37-F689-5E25-178E-960021964498}"/>
              </a:ext>
            </a:extLst>
          </p:cNvPr>
          <p:cNvSpPr txBox="1">
            <a:spLocks/>
          </p:cNvSpPr>
          <p:nvPr/>
        </p:nvSpPr>
        <p:spPr>
          <a:xfrm>
            <a:off x="6607629" y="530292"/>
            <a:ext cx="5147601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Martín Díaz Fernández, Santiago Pereira Olmedo, Álvaro Schwiedop Souto, Diego Suárez Castro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5E12F38-8331-11A3-7A96-0581BBA15B31}"/>
              </a:ext>
            </a:extLst>
          </p:cNvPr>
          <p:cNvCxnSpPr>
            <a:cxnSpLocks/>
          </p:cNvCxnSpPr>
          <p:nvPr/>
        </p:nvCxnSpPr>
        <p:spPr>
          <a:xfrm>
            <a:off x="4093029" y="3980815"/>
            <a:ext cx="290028" cy="3031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FA4463-A694-98C5-263B-79C327E34A61}"/>
              </a:ext>
            </a:extLst>
          </p:cNvPr>
          <p:cNvCxnSpPr/>
          <p:nvPr/>
        </p:nvCxnSpPr>
        <p:spPr>
          <a:xfrm flipH="1">
            <a:off x="4093029" y="3980815"/>
            <a:ext cx="290028" cy="288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6520D84-88C7-3841-E349-D9D69AE05E2C}"/>
              </a:ext>
            </a:extLst>
          </p:cNvPr>
          <p:cNvCxnSpPr/>
          <p:nvPr/>
        </p:nvCxnSpPr>
        <p:spPr>
          <a:xfrm flipH="1">
            <a:off x="6937834" y="3131091"/>
            <a:ext cx="288000" cy="288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D7CBFD7-C314-FD80-9E42-70EA5736433C}"/>
              </a:ext>
            </a:extLst>
          </p:cNvPr>
          <p:cNvCxnSpPr/>
          <p:nvPr/>
        </p:nvCxnSpPr>
        <p:spPr>
          <a:xfrm>
            <a:off x="6937834" y="3131091"/>
            <a:ext cx="288000" cy="2979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2110A75-0D61-6996-E2E5-3C2B6CA00F26}"/>
              </a:ext>
            </a:extLst>
          </p:cNvPr>
          <p:cNvCxnSpPr/>
          <p:nvPr/>
        </p:nvCxnSpPr>
        <p:spPr>
          <a:xfrm flipH="1">
            <a:off x="6937834" y="3980815"/>
            <a:ext cx="288000" cy="288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8B728F2-2A41-DBCF-2044-AABBA6D26297}"/>
              </a:ext>
            </a:extLst>
          </p:cNvPr>
          <p:cNvCxnSpPr/>
          <p:nvPr/>
        </p:nvCxnSpPr>
        <p:spPr>
          <a:xfrm>
            <a:off x="6937834" y="3980815"/>
            <a:ext cx="288000" cy="3031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4E31F1B-3E5F-D9EB-9B01-3B2F307096E6}"/>
              </a:ext>
            </a:extLst>
          </p:cNvPr>
          <p:cNvCxnSpPr/>
          <p:nvPr/>
        </p:nvCxnSpPr>
        <p:spPr>
          <a:xfrm flipV="1">
            <a:off x="3332158" y="1398494"/>
            <a:ext cx="288000" cy="6530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B952C55-0248-B477-95D4-E4279C387F57}"/>
              </a:ext>
            </a:extLst>
          </p:cNvPr>
          <p:cNvCxnSpPr/>
          <p:nvPr/>
        </p:nvCxnSpPr>
        <p:spPr>
          <a:xfrm>
            <a:off x="3332158" y="1448573"/>
            <a:ext cx="288000" cy="6029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2CDB4C3-665A-2788-36C2-C2F233E55D31}"/>
              </a:ext>
            </a:extLst>
          </p:cNvPr>
          <p:cNvCxnSpPr/>
          <p:nvPr/>
        </p:nvCxnSpPr>
        <p:spPr>
          <a:xfrm flipV="1">
            <a:off x="6174299" y="1448573"/>
            <a:ext cx="288000" cy="6029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65E1F96-672F-3EFE-C873-9EFDF95CD423}"/>
              </a:ext>
            </a:extLst>
          </p:cNvPr>
          <p:cNvCxnSpPr/>
          <p:nvPr/>
        </p:nvCxnSpPr>
        <p:spPr>
          <a:xfrm>
            <a:off x="6174299" y="1448573"/>
            <a:ext cx="288000" cy="6029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7449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85C9B-CF30-8A0E-AABE-BAB640F2F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5372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1296</TotalTime>
  <Words>571</Words>
  <Application>Microsoft Office PowerPoint</Application>
  <PresentationFormat>Widescreen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Lara Mendes</dc:creator>
  <cp:lastModifiedBy>Álvaro Schwiedop</cp:lastModifiedBy>
  <cp:revision>11</cp:revision>
  <dcterms:created xsi:type="dcterms:W3CDTF">2025-03-13T14:14:02Z</dcterms:created>
  <dcterms:modified xsi:type="dcterms:W3CDTF">2026-04-21T13:59:15Z</dcterms:modified>
</cp:coreProperties>
</file>